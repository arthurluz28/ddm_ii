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fb3edef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fb3edef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93bbbfb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93bbbfb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7a58552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d7a58552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d7a58552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d7a58552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d7a58552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d7a58552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7a58552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d7a58552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d7a58552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d7a58552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d7a58552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d7a58552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d7a58552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d7a58552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d7a5855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d7a5855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d7a58552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d7a58552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93bbf75c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393bbf75c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93bbf75c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93bbf75c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d7a58552d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d7a58552d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d7a58552d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d7a58552d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d7a58552d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d7a58552d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d7a58552d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d7a58552d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d99e093c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d99e093c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d9a236af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d9a236af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d7a58552d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ed7a58552d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d7a58552d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ed7a58552d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d7a58552d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ed7a58552d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d7a58552d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ed7a58552d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d7a58552d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ed7a58552d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d7a58552d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ed7a58552d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d7a58552d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ed7a58552d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d9a236af9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d9a236af9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d9a236af9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d9a236af9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d9a236af9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d9a236af9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d9a236af9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d9a236af9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d9a236af9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d9a236af9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5780211c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5780211c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d7a58552d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ed7a58552d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hyperlink" Target="https://android-developers.googleblog.com/2026/06/android-developer-productivity-updates.html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31.png"/><Relationship Id="rId6" Type="http://schemas.openxmlformats.org/officeDocument/2006/relationships/image" Target="../media/image9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33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44.png"/><Relationship Id="rId6" Type="http://schemas.openxmlformats.org/officeDocument/2006/relationships/image" Target="../media/image37.png"/><Relationship Id="rId7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45.png"/><Relationship Id="rId6" Type="http://schemas.openxmlformats.org/officeDocument/2006/relationships/image" Target="../media/image48.png"/><Relationship Id="rId7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9387" t="0"/>
          <a:stretch/>
        </p:blipFill>
        <p:spPr>
          <a:xfrm>
            <a:off x="17375" y="11775"/>
            <a:ext cx="65540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575650" y="722150"/>
            <a:ext cx="8256600" cy="12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Rogério Leal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016725" y="2273425"/>
            <a:ext cx="7860300" cy="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pt-BR" sz="2780"/>
              <a:t>Desenvolvimento para Dispositivo Móveis II</a:t>
            </a:r>
            <a:endParaRPr sz="278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5"/>
              <a:buFont typeface="Arial"/>
              <a:buNone/>
            </a:pPr>
            <a:r>
              <a:rPr lang="pt-BR" sz="2253"/>
              <a:t>APIs REST</a:t>
            </a:r>
            <a:endParaRPr sz="278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2780"/>
          </a:p>
        </p:txBody>
      </p:sp>
      <p:sp>
        <p:nvSpPr>
          <p:cNvPr id="57" name="Google Shape;57;p13"/>
          <p:cNvSpPr/>
          <p:nvPr/>
        </p:nvSpPr>
        <p:spPr>
          <a:xfrm>
            <a:off x="6571425" y="11775"/>
            <a:ext cx="590700" cy="56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282625" y="11775"/>
            <a:ext cx="590700" cy="56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993825" y="11775"/>
            <a:ext cx="590700" cy="56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8705025" y="11775"/>
            <a:ext cx="590700" cy="56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 rot="-5400000">
            <a:off x="-1741850" y="2490475"/>
            <a:ext cx="408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DDM - </a:t>
            </a:r>
            <a:r>
              <a:rPr b="1" lang="pt-BR" sz="1100">
                <a:solidFill>
                  <a:schemeClr val="lt1"/>
                </a:solidFill>
              </a:rPr>
              <a:t>Desenvolvimento para Dispositivos Móveis II  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665375" y="22425"/>
            <a:ext cx="852300" cy="5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050" y="11775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3667950" y="3673925"/>
            <a:ext cx="180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Backend Java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>
            <p:ph type="ctrTitle"/>
          </p:nvPr>
        </p:nvSpPr>
        <p:spPr>
          <a:xfrm>
            <a:off x="859750" y="744575"/>
            <a:ext cx="4327200" cy="7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Android Studio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4000" y="1472676"/>
            <a:ext cx="7709699" cy="2575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94450" y="4145893"/>
            <a:ext cx="3881600" cy="7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type="ctrTitle"/>
          </p:nvPr>
        </p:nvSpPr>
        <p:spPr>
          <a:xfrm>
            <a:off x="859750" y="744575"/>
            <a:ext cx="4327200" cy="7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Android Studio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1100" y="1472675"/>
            <a:ext cx="3744499" cy="30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8700" y="1472676"/>
            <a:ext cx="3744500" cy="306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>
            <p:ph type="ctrTitle"/>
          </p:nvPr>
        </p:nvSpPr>
        <p:spPr>
          <a:xfrm>
            <a:off x="859750" y="744575"/>
            <a:ext cx="4327200" cy="7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Android Studio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5075" y="1429178"/>
            <a:ext cx="3744500" cy="3054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2775" y="1429178"/>
            <a:ext cx="3801900" cy="305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59850" y="4527400"/>
            <a:ext cx="3093188" cy="5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>
            <p:ph type="ctrTitle"/>
          </p:nvPr>
        </p:nvSpPr>
        <p:spPr>
          <a:xfrm>
            <a:off x="859750" y="744575"/>
            <a:ext cx="4327200" cy="7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Android Studio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2827" y="1472675"/>
            <a:ext cx="4514075" cy="34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>
            <p:ph type="ctrTitle"/>
          </p:nvPr>
        </p:nvSpPr>
        <p:spPr>
          <a:xfrm>
            <a:off x="859750" y="744575"/>
            <a:ext cx="4327200" cy="7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Android Studio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850" y="1566675"/>
            <a:ext cx="3990475" cy="301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9996" y="1546000"/>
            <a:ext cx="3990476" cy="303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2040950" y="4672350"/>
            <a:ext cx="601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</a:rPr>
              <a:t>SDK significa </a:t>
            </a:r>
            <a:r>
              <a:rPr b="1" lang="pt-BR" sz="1100">
                <a:solidFill>
                  <a:schemeClr val="lt1"/>
                </a:solidFill>
              </a:rPr>
              <a:t>Software Development Kit</a:t>
            </a:r>
            <a:r>
              <a:rPr lang="pt-BR" sz="1100">
                <a:solidFill>
                  <a:schemeClr val="lt1"/>
                </a:solidFill>
              </a:rPr>
              <a:t> (Kit de Desenvolvimento de Software).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ctrTitle"/>
          </p:nvPr>
        </p:nvSpPr>
        <p:spPr>
          <a:xfrm>
            <a:off x="859750" y="744575"/>
            <a:ext cx="4327200" cy="7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Android Studio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973" y="1418000"/>
            <a:ext cx="4699338" cy="35542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5898725" y="1578850"/>
            <a:ext cx="3000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</a:rPr>
              <a:t>Android Emulator (399 MB)</a:t>
            </a:r>
            <a:r>
              <a:rPr lang="pt-BR" sz="1100">
                <a:solidFill>
                  <a:schemeClr val="lt1"/>
                </a:solidFill>
              </a:rPr>
              <a:t> → Simulador de dispositivos Android para testar aplicativos sem precisar de um celular físico.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</a:rPr>
              <a:t>Android Emulator Hypervisor Driver</a:t>
            </a:r>
            <a:r>
              <a:rPr lang="pt-BR" sz="1100">
                <a:solidFill>
                  <a:schemeClr val="lt1"/>
                </a:solidFill>
              </a:rPr>
              <a:t> → Driver que melhora o desempenho do emulador utilizando virtualização do processador.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</a:rPr>
              <a:t>Android SDK Build-Tools 36.1 e 37</a:t>
            </a:r>
            <a:r>
              <a:rPr lang="pt-BR" sz="1100">
                <a:solidFill>
                  <a:schemeClr val="lt1"/>
                </a:solidFill>
              </a:rPr>
              <a:t> → Ferramentas necessárias para compilar aplicativos Android.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</a:rPr>
              <a:t>Android SDK Platform 36.1</a:t>
            </a:r>
            <a:r>
              <a:rPr lang="pt-BR" sz="1100">
                <a:solidFill>
                  <a:schemeClr val="lt1"/>
                </a:solidFill>
              </a:rPr>
              <a:t> → Arquivos da plataforma Android API 36.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</a:rPr>
              <a:t>Android SDK Platform-Tools</a:t>
            </a:r>
            <a:r>
              <a:rPr lang="pt-BR" sz="1100">
                <a:solidFill>
                  <a:schemeClr val="lt1"/>
                </a:solidFill>
              </a:rPr>
              <a:t> → Ferramentas como ADB (Android Debug Bridge), usadas para comunicação com dispositivos Android.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</a:rPr>
              <a:t>Sources for Android 36.1</a:t>
            </a:r>
            <a:r>
              <a:rPr lang="pt-BR" sz="1100">
                <a:solidFill>
                  <a:schemeClr val="lt1"/>
                </a:solidFill>
              </a:rPr>
              <a:t> → Código-fonte das APIs Android para consulta e depuração.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>
            <p:ph type="ctrTitle"/>
          </p:nvPr>
        </p:nvSpPr>
        <p:spPr>
          <a:xfrm>
            <a:off x="859750" y="744575"/>
            <a:ext cx="4327200" cy="7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Android Studio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5700" y="1918197"/>
            <a:ext cx="5952601" cy="188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1731175" y="3940825"/>
            <a:ext cx="62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</a:rPr>
              <a:t>Aceite os termos e siga com a </a:t>
            </a:r>
            <a:r>
              <a:rPr b="1" lang="pt-BR" sz="1800">
                <a:solidFill>
                  <a:schemeClr val="lt1"/>
                </a:solidFill>
              </a:rPr>
              <a:t>instalação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>
            <p:ph type="ctrTitle"/>
          </p:nvPr>
        </p:nvSpPr>
        <p:spPr>
          <a:xfrm>
            <a:off x="859750" y="744575"/>
            <a:ext cx="4327200" cy="7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Android Studio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2499" y="1555925"/>
            <a:ext cx="4010674" cy="331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>
            <p:ph type="ctrTitle"/>
          </p:nvPr>
        </p:nvSpPr>
        <p:spPr>
          <a:xfrm>
            <a:off x="859750" y="744575"/>
            <a:ext cx="4327200" cy="7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Basic Activity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7051" y="1514201"/>
            <a:ext cx="4594624" cy="32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/>
          <p:nvPr/>
        </p:nvSpPr>
        <p:spPr>
          <a:xfrm>
            <a:off x="5795850" y="3112675"/>
            <a:ext cx="206700" cy="18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5157875" y="2571750"/>
            <a:ext cx="1537800" cy="1462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>
            <p:ph type="ctrTitle"/>
          </p:nvPr>
        </p:nvSpPr>
        <p:spPr>
          <a:xfrm>
            <a:off x="859750" y="744575"/>
            <a:ext cx="4327200" cy="7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Basic Activity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/>
          <p:cNvPicPr preferRelativeResize="0"/>
          <p:nvPr/>
        </p:nvPicPr>
        <p:blipFill rotWithShape="1">
          <a:blip r:embed="rId5">
            <a:alphaModFix/>
          </a:blip>
          <a:srcRect b="0" l="0" r="18207" t="0"/>
          <a:stretch/>
        </p:blipFill>
        <p:spPr>
          <a:xfrm>
            <a:off x="1302023" y="1764825"/>
            <a:ext cx="6974724" cy="202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/>
          <p:nvPr/>
        </p:nvSpPr>
        <p:spPr>
          <a:xfrm>
            <a:off x="6048225" y="1820350"/>
            <a:ext cx="850500" cy="174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4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 rotWithShape="1">
          <a:blip r:embed="rId5">
            <a:alphaModFix/>
          </a:blip>
          <a:srcRect b="0" l="0" r="5687" t="0"/>
          <a:stretch/>
        </p:blipFill>
        <p:spPr>
          <a:xfrm>
            <a:off x="5151250" y="1265525"/>
            <a:ext cx="3838551" cy="29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/>
          <p:nvPr/>
        </p:nvSpPr>
        <p:spPr>
          <a:xfrm>
            <a:off x="5151250" y="1643975"/>
            <a:ext cx="73200" cy="96000"/>
          </a:xfrm>
          <a:prstGeom prst="rect">
            <a:avLst/>
          </a:prstGeom>
          <a:solidFill>
            <a:srgbClr val="454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"/>
          <p:cNvSpPr txBox="1"/>
          <p:nvPr>
            <p:ph type="ctrTitle"/>
          </p:nvPr>
        </p:nvSpPr>
        <p:spPr>
          <a:xfrm>
            <a:off x="722175" y="1241975"/>
            <a:ext cx="4749600" cy="29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pt-BR" sz="1500">
                <a:solidFill>
                  <a:srgbClr val="FFFFFF"/>
                </a:solidFill>
              </a:rPr>
              <a:t>Package name: Calcular IMC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pt-BR" sz="1500">
                <a:solidFill>
                  <a:schemeClr val="lt1"/>
                </a:solidFill>
              </a:rPr>
              <a:t>Package name: </a:t>
            </a:r>
            <a:r>
              <a:rPr b="1" lang="pt-BR" sz="1300">
                <a:solidFill>
                  <a:schemeClr val="lt1"/>
                </a:solidFill>
              </a:rPr>
              <a:t>com.etecmcm.calculadoraimc</a:t>
            </a:r>
            <a:endParaRPr b="1" sz="13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pt-BR" sz="1500">
                <a:solidFill>
                  <a:srgbClr val="FFFFFF"/>
                </a:solidFill>
              </a:rPr>
              <a:t>Save location: Pendrive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pt-BR" sz="1500">
                <a:solidFill>
                  <a:srgbClr val="FFFFFF"/>
                </a:solidFill>
              </a:rPr>
              <a:t>Language: java</a:t>
            </a:r>
            <a:endParaRPr b="1"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b="1" lang="pt-BR" sz="1500">
                <a:solidFill>
                  <a:srgbClr val="FFFFFF"/>
                </a:solidFill>
              </a:rPr>
              <a:t>Minimum SDK: 21</a:t>
            </a:r>
            <a:endParaRPr b="1"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5100" y="890400"/>
            <a:ext cx="52006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/>
        </p:nvSpPr>
        <p:spPr>
          <a:xfrm>
            <a:off x="6526075" y="1663500"/>
            <a:ext cx="22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Montar layout em XML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6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6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6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 txBox="1"/>
          <p:nvPr/>
        </p:nvSpPr>
        <p:spPr>
          <a:xfrm>
            <a:off x="6526075" y="1663500"/>
            <a:ext cx="22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Montar layout em XML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258" name="Google Shape;25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7700" y="963075"/>
            <a:ext cx="5526999" cy="417097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/>
          <p:nvPr/>
        </p:nvSpPr>
        <p:spPr>
          <a:xfrm>
            <a:off x="6317650" y="964400"/>
            <a:ext cx="174000" cy="16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7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7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7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7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6025" y="890402"/>
            <a:ext cx="6695648" cy="351020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/>
          <p:nvPr/>
        </p:nvSpPr>
        <p:spPr>
          <a:xfrm>
            <a:off x="7257450" y="890400"/>
            <a:ext cx="174000" cy="16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8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8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8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8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9573" y="830612"/>
            <a:ext cx="5640500" cy="395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/>
          <p:nvPr/>
        </p:nvSpPr>
        <p:spPr>
          <a:xfrm>
            <a:off x="6636075" y="830600"/>
            <a:ext cx="174000" cy="16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9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>
            <p:ph type="ctrTitle"/>
          </p:nvPr>
        </p:nvSpPr>
        <p:spPr>
          <a:xfrm>
            <a:off x="3107800" y="2028025"/>
            <a:ext cx="6147000" cy="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FFFF"/>
                </a:solidFill>
              </a:rPr>
              <a:t>Layaouts&gt; linear layout (vertical)&gt; ‘ENTER”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</a:endParaRPr>
          </a:p>
        </p:txBody>
      </p:sp>
      <p:pic>
        <p:nvPicPr>
          <p:cNvPr id="301" name="Google Shape;30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0538" y="878650"/>
            <a:ext cx="2638425" cy="41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 txBox="1"/>
          <p:nvPr>
            <p:ph type="ctrTitle"/>
          </p:nvPr>
        </p:nvSpPr>
        <p:spPr>
          <a:xfrm>
            <a:off x="3645425" y="1267825"/>
            <a:ext cx="5188500" cy="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999999"/>
                </a:solidFill>
              </a:rPr>
              <a:t>Layaouts&gt; ConstrainLayout(relative)</a:t>
            </a:r>
            <a:endParaRPr sz="2100">
              <a:solidFill>
                <a:srgbClr val="999999"/>
              </a:solidFill>
            </a:endParaRPr>
          </a:p>
        </p:txBody>
      </p:sp>
      <p:sp>
        <p:nvSpPr>
          <p:cNvPr id="303" name="Google Shape;303;p29"/>
          <p:cNvSpPr txBox="1"/>
          <p:nvPr>
            <p:ph type="ctrTitle"/>
          </p:nvPr>
        </p:nvSpPr>
        <p:spPr>
          <a:xfrm>
            <a:off x="3578975" y="2788225"/>
            <a:ext cx="5188500" cy="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999999"/>
                </a:solidFill>
              </a:rPr>
              <a:t>Layaouts&gt; linear layout (horizontal)&gt;</a:t>
            </a:r>
            <a:endParaRPr sz="21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0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0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14" name="Google Shape;314;p30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ctrTitle"/>
          </p:nvPr>
        </p:nvSpPr>
        <p:spPr>
          <a:xfrm>
            <a:off x="790775" y="1241975"/>
            <a:ext cx="3225600" cy="29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rgbClr val="FFFFFF"/>
                </a:solidFill>
              </a:rPr>
              <a:t>add text view (labels) x2 ou 4x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chemeClr val="lt1"/>
                </a:solidFill>
              </a:rPr>
              <a:t>P</a:t>
            </a:r>
            <a:r>
              <a:rPr lang="pt-BR" sz="1500">
                <a:solidFill>
                  <a:schemeClr val="lt1"/>
                </a:solidFill>
              </a:rPr>
              <a:t>lan </a:t>
            </a:r>
            <a:r>
              <a:rPr lang="pt-BR" sz="1500">
                <a:solidFill>
                  <a:srgbClr val="FFFFFF"/>
                </a:solidFill>
              </a:rPr>
              <a:t>Text: (serão </a:t>
            </a:r>
            <a:r>
              <a:rPr lang="pt-BR" sz="1500">
                <a:solidFill>
                  <a:srgbClr val="FFFFFF"/>
                </a:solidFill>
              </a:rPr>
              <a:t>inputs) 2x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Peso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Altura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Button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id="317" name="Google Shape;31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9215" y="1069775"/>
            <a:ext cx="4739875" cy="372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1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1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1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1"/>
          <p:cNvSpPr txBox="1"/>
          <p:nvPr>
            <p:ph type="ctrTitle"/>
          </p:nvPr>
        </p:nvSpPr>
        <p:spPr>
          <a:xfrm>
            <a:off x="722175" y="660550"/>
            <a:ext cx="3225600" cy="41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rgbClr val="FFFFFF"/>
                </a:solidFill>
              </a:rPr>
              <a:t>id = inputPeso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type: number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text: digite seu peso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rgbClr val="FFFFFF"/>
                </a:solidFill>
              </a:rPr>
              <a:t>id = inputAltura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type: number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text: digite sua alt…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rgbClr val="FFFFFF"/>
                </a:solidFill>
              </a:rPr>
              <a:t>id = resultado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type: textView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rgbClr val="FFFFFF"/>
                </a:solidFill>
              </a:rPr>
              <a:t>Button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id="331" name="Google Shape;331;p31"/>
          <p:cNvPicPr preferRelativeResize="0"/>
          <p:nvPr/>
        </p:nvPicPr>
        <p:blipFill rotWithShape="1">
          <a:blip r:embed="rId5">
            <a:alphaModFix/>
          </a:blip>
          <a:srcRect b="0" l="0" r="7936" t="0"/>
          <a:stretch/>
        </p:blipFill>
        <p:spPr>
          <a:xfrm>
            <a:off x="3507849" y="1241975"/>
            <a:ext cx="5231626" cy="35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2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2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2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2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42" name="Google Shape;342;p32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3" name="Google Shape;34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2"/>
          <p:cNvSpPr txBox="1"/>
          <p:nvPr>
            <p:ph type="ctrTitle"/>
          </p:nvPr>
        </p:nvSpPr>
        <p:spPr>
          <a:xfrm>
            <a:off x="722175" y="660550"/>
            <a:ext cx="3225600" cy="41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rgbClr val="FFFFFF"/>
                </a:solidFill>
              </a:rPr>
              <a:t>id = inputPeso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type: number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text: digite seu peso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rgbClr val="FFFFFF"/>
                </a:solidFill>
              </a:rPr>
              <a:t>id = inputAltura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type: number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text: digite sua alt…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rgbClr val="FFFFFF"/>
                </a:solidFill>
              </a:rPr>
              <a:t>id = resultado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type: textView</a:t>
            </a:r>
            <a:endParaRPr sz="1500">
              <a:solidFill>
                <a:srgbClr val="FFFFFF"/>
              </a:solidFill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rgbClr val="FFFFFF"/>
                </a:solidFill>
              </a:rPr>
              <a:t>Button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id="345" name="Google Shape;345;p32"/>
          <p:cNvPicPr preferRelativeResize="0"/>
          <p:nvPr/>
        </p:nvPicPr>
        <p:blipFill rotWithShape="1">
          <a:blip r:embed="rId5">
            <a:alphaModFix/>
          </a:blip>
          <a:srcRect b="27610" l="0" r="0" t="0"/>
          <a:stretch/>
        </p:blipFill>
        <p:spPr>
          <a:xfrm>
            <a:off x="3624800" y="877888"/>
            <a:ext cx="1720400" cy="37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5668" y="1084525"/>
            <a:ext cx="1467125" cy="222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98670" y="1084520"/>
            <a:ext cx="1857950" cy="18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2"/>
          <p:cNvSpPr/>
          <p:nvPr/>
        </p:nvSpPr>
        <p:spPr>
          <a:xfrm>
            <a:off x="4543600" y="907625"/>
            <a:ext cx="342000" cy="177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5660650" y="1128725"/>
            <a:ext cx="838200" cy="177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7316650" y="1995500"/>
            <a:ext cx="1440000" cy="203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3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3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3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2" name="Google Shape;36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2525" y="804235"/>
            <a:ext cx="7869950" cy="35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4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4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4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4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2551" y="890400"/>
            <a:ext cx="1950300" cy="378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4225" y="1747825"/>
            <a:ext cx="24955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79863" y="2067375"/>
            <a:ext cx="193357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5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5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5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5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89" name="Google Shape;389;p35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0" name="Google Shape;39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6624" y="832318"/>
            <a:ext cx="5482051" cy="419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6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6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6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6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3" name="Google Shape;40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6575" y="934329"/>
            <a:ext cx="5459076" cy="4209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7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7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7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415" name="Google Shape;415;p37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6" name="Google Shape;41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6423" y="954500"/>
            <a:ext cx="5292900" cy="374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8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8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8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8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8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9" name="Google Shape;42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4000" y="940975"/>
            <a:ext cx="7545674" cy="3261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9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9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9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9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9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441" name="Google Shape;441;p39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2" name="Google Shape;44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9"/>
          <p:cNvSpPr txBox="1"/>
          <p:nvPr>
            <p:ph type="ctrTitle"/>
          </p:nvPr>
        </p:nvSpPr>
        <p:spPr>
          <a:xfrm>
            <a:off x="722175" y="660550"/>
            <a:ext cx="3509100" cy="29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rgbClr val="FFFFFF"/>
                </a:solidFill>
              </a:rPr>
              <a:t>MainActivity.java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alt+Enter(importar classes)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public void calcularIMC</a:t>
            </a:r>
            <a:endParaRPr sz="1500">
              <a:solidFill>
                <a:srgbClr val="FFFFFF"/>
              </a:solidFill>
            </a:endParaRPr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■"/>
            </a:pPr>
            <a:r>
              <a:rPr lang="pt-BR" sz="1500">
                <a:solidFill>
                  <a:srgbClr val="FFFFFF"/>
                </a:solidFill>
              </a:rPr>
              <a:t>import(View view)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id="444" name="Google Shape;444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2188" y="1828800"/>
            <a:ext cx="37052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6000" y="1679450"/>
            <a:ext cx="14097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5900" y="3514438"/>
            <a:ext cx="3924300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0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0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0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0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0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457" name="Google Shape;457;p40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8" name="Google Shape;45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0"/>
          <p:cNvSpPr txBox="1"/>
          <p:nvPr>
            <p:ph type="ctrTitle"/>
          </p:nvPr>
        </p:nvSpPr>
        <p:spPr>
          <a:xfrm>
            <a:off x="722175" y="660550"/>
            <a:ext cx="3509100" cy="29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pt-BR" sz="1500">
                <a:solidFill>
                  <a:srgbClr val="FFFFFF"/>
                </a:solidFill>
              </a:rPr>
              <a:t>Activit_main.xml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All atributes</a:t>
            </a:r>
            <a:endParaRPr sz="1500">
              <a:solidFill>
                <a:srgbClr val="FFFFFF"/>
              </a:solidFill>
            </a:endParaRPr>
          </a:p>
          <a:p>
            <a:pPr indent="-3238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○"/>
            </a:pPr>
            <a:r>
              <a:rPr lang="pt-BR" sz="1500">
                <a:solidFill>
                  <a:srgbClr val="FFFFFF"/>
                </a:solidFill>
              </a:rPr>
              <a:t>Onclick</a:t>
            </a:r>
            <a:endParaRPr sz="1500">
              <a:solidFill>
                <a:srgbClr val="FFFFFF"/>
              </a:solidFill>
            </a:endParaRPr>
          </a:p>
          <a:p>
            <a:pPr indent="-3238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■"/>
            </a:pPr>
            <a:r>
              <a:rPr lang="pt-BR" sz="1500">
                <a:solidFill>
                  <a:srgbClr val="FFFFFF"/>
                </a:solidFill>
              </a:rPr>
              <a:t>CacularIMC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id="460" name="Google Shape;46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2675" y="1285875"/>
            <a:ext cx="4129949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2663" y="1123938"/>
            <a:ext cx="1323975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1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1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1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1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1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472" name="Google Shape;472;p41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3" name="Google Shape;47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1"/>
          <p:cNvSpPr txBox="1"/>
          <p:nvPr>
            <p:ph type="ctrTitle"/>
          </p:nvPr>
        </p:nvSpPr>
        <p:spPr>
          <a:xfrm>
            <a:off x="722175" y="660550"/>
            <a:ext cx="3509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pt-BR" sz="1500">
                <a:solidFill>
                  <a:schemeClr val="lt1"/>
                </a:solidFill>
              </a:rPr>
              <a:t>MainActivity.java</a:t>
            </a:r>
            <a:endParaRPr sz="15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id="475" name="Google Shape;47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0850" y="1342780"/>
            <a:ext cx="8014075" cy="5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1"/>
          <p:cNvSpPr txBox="1"/>
          <p:nvPr>
            <p:ph type="ctrTitle"/>
          </p:nvPr>
        </p:nvSpPr>
        <p:spPr>
          <a:xfrm>
            <a:off x="1588050" y="2009100"/>
            <a:ext cx="3509100" cy="25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FF00"/>
                </a:solidFill>
              </a:rPr>
              <a:t>double= tipo de variável</a:t>
            </a:r>
            <a:endParaRPr sz="15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FF00"/>
                </a:solidFill>
              </a:rPr>
              <a:t>peso = variável</a:t>
            </a:r>
            <a:endParaRPr sz="15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FF00"/>
                </a:solidFill>
              </a:rPr>
              <a:t>Double = tipo desejável</a:t>
            </a:r>
            <a:endParaRPr sz="15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FF00"/>
                </a:solidFill>
              </a:rPr>
              <a:t>parceDouble= converter para Double</a:t>
            </a:r>
            <a:endParaRPr sz="15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FF00"/>
                </a:solidFill>
              </a:rPr>
              <a:t>inputPeso= variável</a:t>
            </a:r>
            <a:endParaRPr sz="15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FF00"/>
                </a:solidFill>
              </a:rPr>
              <a:t>getText= capturar texto</a:t>
            </a:r>
            <a:endParaRPr sz="15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FF00"/>
                </a:solidFill>
              </a:rPr>
              <a:t>toString= tipo string</a:t>
            </a:r>
            <a:endParaRPr sz="15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2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2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2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2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2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487" name="Google Shape;487;p42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0550" y="1581300"/>
            <a:ext cx="76200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2"/>
          <p:cNvSpPr txBox="1"/>
          <p:nvPr/>
        </p:nvSpPr>
        <p:spPr>
          <a:xfrm>
            <a:off x="1049400" y="1034600"/>
            <a:ext cx="72126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5275" lvl="0" marL="457200" rtl="0" algn="l">
              <a:lnSpc>
                <a:spcPct val="157142"/>
              </a:lnSpc>
              <a:spcBef>
                <a:spcPts val="800"/>
              </a:spcBef>
              <a:spcAft>
                <a:spcPts val="0"/>
              </a:spcAft>
              <a:buClr>
                <a:srgbClr val="1F1F1F"/>
              </a:buClr>
              <a:buSzPts val="1050"/>
              <a:buChar char="●"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</a:rPr>
              <a:t>Divida o peso em quilogramas pela altura em metros ao quadrado</a:t>
            </a:r>
            <a:endParaRPr sz="10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Char char="●"/>
            </a:pPr>
            <a:r>
              <a:rPr lang="pt-BR" sz="1050">
                <a:solidFill>
                  <a:srgbClr val="1F1F1F"/>
                </a:solidFill>
                <a:highlight>
                  <a:srgbClr val="FFFFFF"/>
                </a:highlight>
              </a:rPr>
              <a:t>Por exemplo, se uma pessoa pesa 70 kg e mede 1,60 m, seu IMC será: 70/ (1,60)² = 70/ 2,56 = 27,3</a:t>
            </a:r>
            <a:endParaRPr sz="10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3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3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3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3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501" name="Google Shape;501;p43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3"/>
          <p:cNvSpPr txBox="1"/>
          <p:nvPr>
            <p:ph type="ctrTitle"/>
          </p:nvPr>
        </p:nvSpPr>
        <p:spPr>
          <a:xfrm>
            <a:off x="722175" y="660550"/>
            <a:ext cx="3509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pt-BR" sz="1500">
                <a:solidFill>
                  <a:schemeClr val="lt1"/>
                </a:solidFill>
              </a:rPr>
              <a:t>MainActivity.java</a:t>
            </a:r>
            <a:endParaRPr sz="15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</a:endParaRPr>
          </a:p>
        </p:txBody>
      </p:sp>
      <p:pic>
        <p:nvPicPr>
          <p:cNvPr id="504" name="Google Shape;504;p43"/>
          <p:cNvPicPr preferRelativeResize="0"/>
          <p:nvPr/>
        </p:nvPicPr>
        <p:blipFill rotWithShape="1">
          <a:blip r:embed="rId5">
            <a:alphaModFix/>
          </a:blip>
          <a:srcRect b="5204" l="0" r="0" t="0"/>
          <a:stretch/>
        </p:blipFill>
        <p:spPr>
          <a:xfrm>
            <a:off x="1449700" y="1125274"/>
            <a:ext cx="6543675" cy="401822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3"/>
          <p:cNvSpPr/>
          <p:nvPr/>
        </p:nvSpPr>
        <p:spPr>
          <a:xfrm>
            <a:off x="1744400" y="4047025"/>
            <a:ext cx="139500" cy="149400"/>
          </a:xfrm>
          <a:prstGeom prst="rect">
            <a:avLst/>
          </a:prstGeom>
          <a:solidFill>
            <a:srgbClr val="262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4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4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4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4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4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516" name="Google Shape;516;p44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7" name="Google Shape;51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4"/>
          <p:cNvSpPr txBox="1"/>
          <p:nvPr/>
        </p:nvSpPr>
        <p:spPr>
          <a:xfrm>
            <a:off x="853875" y="751100"/>
            <a:ext cx="811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highlight>
                  <a:srgbClr val="FFFFFF"/>
                </a:highlight>
              </a:rPr>
              <a:t>Build &gt; Generate App Bundles or APK</a:t>
            </a:r>
            <a:endParaRPr sz="3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19" name="Google Shape;519;p44"/>
          <p:cNvSpPr txBox="1"/>
          <p:nvPr/>
        </p:nvSpPr>
        <p:spPr>
          <a:xfrm>
            <a:off x="4320475" y="1397600"/>
            <a:ext cx="471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C:\Users\NOMEUSUARIO\AndroidStudioProjects\calcIMC\app\build\outputs\apk\debug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520" name="Google Shape;520;p44"/>
          <p:cNvPicPr preferRelativeResize="0"/>
          <p:nvPr/>
        </p:nvPicPr>
        <p:blipFill rotWithShape="1">
          <a:blip r:embed="rId5">
            <a:alphaModFix/>
          </a:blip>
          <a:srcRect b="0" l="0" r="46789" t="0"/>
          <a:stretch/>
        </p:blipFill>
        <p:spPr>
          <a:xfrm>
            <a:off x="853875" y="1633643"/>
            <a:ext cx="4000952" cy="3122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4813" y="3449375"/>
            <a:ext cx="471487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5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5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5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5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5"/>
          <p:cNvSpPr txBox="1"/>
          <p:nvPr/>
        </p:nvSpPr>
        <p:spPr>
          <a:xfrm rot="-5400000">
            <a:off x="-1641975" y="2608050"/>
            <a:ext cx="408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DDM II - Desenvolvimento para Dispositivo Móveis II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532" name="Google Shape;532;p45"/>
          <p:cNvSpPr/>
          <p:nvPr/>
        </p:nvSpPr>
        <p:spPr>
          <a:xfrm>
            <a:off x="940550" y="74750"/>
            <a:ext cx="1100400" cy="5532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4000" y="78862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5"/>
          <p:cNvSpPr txBox="1"/>
          <p:nvPr/>
        </p:nvSpPr>
        <p:spPr>
          <a:xfrm>
            <a:off x="853875" y="751100"/>
            <a:ext cx="811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highlight>
                  <a:srgbClr val="FFFFFF"/>
                </a:highlight>
              </a:rPr>
              <a:t>Atividade </a:t>
            </a:r>
            <a:endParaRPr sz="3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35" name="Google Shape;535;p45"/>
          <p:cNvSpPr txBox="1"/>
          <p:nvPr/>
        </p:nvSpPr>
        <p:spPr>
          <a:xfrm>
            <a:off x="940550" y="1832850"/>
            <a:ext cx="4714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Criar um App de IMC, será avaliado: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pt-BR" sz="1800">
                <a:solidFill>
                  <a:schemeClr val="lt1"/>
                </a:solidFill>
              </a:rPr>
              <a:t>Layout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pt-BR" sz="1800">
                <a:solidFill>
                  <a:schemeClr val="lt1"/>
                </a:solidFill>
              </a:rPr>
              <a:t>Funcionalidade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pt-BR" sz="1800">
                <a:solidFill>
                  <a:schemeClr val="lt1"/>
                </a:solidFill>
              </a:rPr>
              <a:t>Prazo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Entrega será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pt-BR" sz="1800">
                <a:solidFill>
                  <a:schemeClr val="lt1"/>
                </a:solidFill>
              </a:rPr>
              <a:t>APK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pt-BR" sz="1800">
                <a:solidFill>
                  <a:schemeClr val="lt1"/>
                </a:solidFill>
              </a:rPr>
              <a:t>XML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pt-BR" sz="1800">
                <a:solidFill>
                  <a:schemeClr val="lt1"/>
                </a:solidFill>
              </a:rPr>
              <a:t>JAVA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Compactado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536" name="Google Shape;53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6700" y="787825"/>
            <a:ext cx="2143475" cy="428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